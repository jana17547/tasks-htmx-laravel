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59" r:id="rId6"/>
    <p:sldId id="260" r:id="rId7"/>
    <p:sldId id="270" r:id="rId8"/>
    <p:sldId id="261" r:id="rId9"/>
    <p:sldId id="262" r:id="rId10"/>
    <p:sldId id="263" r:id="rId11"/>
    <p:sldId id="264" r:id="rId12"/>
    <p:sldId id="272" r:id="rId13"/>
    <p:sldId id="265" r:id="rId14"/>
    <p:sldId id="269" r:id="rId15"/>
    <p:sldId id="266" r:id="rId16"/>
    <p:sldId id="271" r:id="rId17"/>
  </p:sldIdLst>
  <p:sldSz cx="18288000" cy="10287000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Open Sans Bo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Bold" panose="02000000000000000000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04B"/>
    <a:srgbClr val="FFE0A3"/>
    <a:srgbClr val="F94739"/>
    <a:srgbClr val="FF9F9F"/>
    <a:srgbClr val="FFFF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9575" autoAdjust="0"/>
  </p:normalViewPr>
  <p:slideViewPr>
    <p:cSldViewPr>
      <p:cViewPr varScale="1">
        <p:scale>
          <a:sx n="57" d="100"/>
          <a:sy n="57" d="100"/>
        </p:scale>
        <p:origin x="1554" y="5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5F7ED-B570-4C51-A225-4202340EB0E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9A71-B36D-444A-B4A8-552594D5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6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09A71-B36D-444A-B4A8-552594D52B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6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09A71-B36D-444A-B4A8-552594D52B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09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316A7-04E6-F19E-BAA9-3345ECC6E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59BE7-C767-504D-F92D-B699C2E58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12967-EAC5-2FCC-7C56-23CE54C06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02029-43DB-4E67-683B-1AE5EDECB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09A71-B36D-444A-B4A8-552594D52B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49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09A71-B36D-444A-B4A8-552594D52B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39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09A71-B36D-444A-B4A8-552594D52B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72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09A71-B36D-444A-B4A8-552594D52B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68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1781" y="765767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55619" y="8743950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201900" y="-139509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3333810" y="-1543050"/>
            <a:ext cx="3086100" cy="30861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38448" y="2734158"/>
            <a:ext cx="14514910" cy="2616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HTMX </a:t>
            </a:r>
            <a:r>
              <a:rPr lang="en-US" sz="6000" b="1" dirty="0" err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kao</a:t>
            </a:r>
            <a:r>
              <a:rPr lang="en-US" sz="6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 re</a:t>
            </a:r>
            <a:r>
              <a:rPr lang="sr-Latn-RS" sz="6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šenje za izradu interaktivnih web </a:t>
            </a:r>
            <a:r>
              <a:rPr lang="sr-Latn-RS" sz="6000" b="1" dirty="0">
                <a:solidFill>
                  <a:srgbClr val="31404B"/>
                </a:solidFill>
                <a:latin typeface="Roboto Bold"/>
                <a:ea typeface="Roboto Bold"/>
                <a:sym typeface="Roboto Bold"/>
              </a:rPr>
              <a:t>aplikacija</a:t>
            </a:r>
            <a:r>
              <a:rPr lang="sr-Latn-RS" sz="6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 bez SPA framework-a</a:t>
            </a:r>
            <a:endParaRPr lang="en-US" sz="6000" b="1" dirty="0">
              <a:solidFill>
                <a:srgbClr val="31404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936188" y="1920463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2048664" y="4832351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D5D660-20C8-7D89-9694-49F6C3E7E369}"/>
              </a:ext>
            </a:extLst>
          </p:cNvPr>
          <p:cNvSpPr txBox="1"/>
          <p:nvPr/>
        </p:nvSpPr>
        <p:spPr>
          <a:xfrm>
            <a:off x="3813909" y="5973621"/>
            <a:ext cx="10660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31404B"/>
                </a:solidFill>
                <a:latin typeface="Roboto Bold" panose="020B0604020202020204" charset="0"/>
                <a:ea typeface="Roboto Bold" panose="020B0604020202020204" charset="0"/>
              </a:rPr>
              <a:t>Server-driven UI </a:t>
            </a:r>
            <a:r>
              <a:rPr lang="en-US" sz="4000" dirty="0" err="1">
                <a:solidFill>
                  <a:srgbClr val="31404B"/>
                </a:solidFill>
                <a:latin typeface="Roboto Bold" panose="020B0604020202020204" charset="0"/>
                <a:ea typeface="Roboto Bold" panose="020B0604020202020204" charset="0"/>
              </a:rPr>
              <a:t>pristup</a:t>
            </a:r>
            <a:r>
              <a:rPr lang="en-US" sz="4000" dirty="0">
                <a:solidFill>
                  <a:srgbClr val="31404B"/>
                </a:solidFill>
                <a:latin typeface="Roboto Bold" panose="020B0604020202020204" charset="0"/>
                <a:ea typeface="Roboto Bold" panose="020B0604020202020204" charset="0"/>
              </a:rPr>
              <a:t> (HTML over the wire)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016DA4-0860-F5FE-933F-C52DB49D14BC}"/>
              </a:ext>
            </a:extLst>
          </p:cNvPr>
          <p:cNvSpPr txBox="1"/>
          <p:nvPr/>
        </p:nvSpPr>
        <p:spPr>
          <a:xfrm>
            <a:off x="14131777" y="9137451"/>
            <a:ext cx="40552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3200" dirty="0">
                <a:solidFill>
                  <a:srgbClr val="31404B"/>
                </a:solidFill>
                <a:latin typeface="Roboto Bold" panose="020B0604020202020204" charset="0"/>
                <a:ea typeface="Roboto Bold" panose="020B0604020202020204" charset="0"/>
              </a:rPr>
              <a:t>Student: Jana Arsić</a:t>
            </a:r>
          </a:p>
          <a:p>
            <a:r>
              <a:rPr lang="sr-Latn-RS" sz="3200" dirty="0">
                <a:solidFill>
                  <a:srgbClr val="31404B"/>
                </a:solidFill>
                <a:latin typeface="Roboto Bold" panose="020B0604020202020204" charset="0"/>
                <a:ea typeface="Roboto Bold" panose="020B0604020202020204" charset="0"/>
              </a:rPr>
              <a:t>Br. indeksa 2085</a:t>
            </a:r>
            <a:endParaRPr lang="en-US" sz="3200" dirty="0">
              <a:solidFill>
                <a:srgbClr val="31404B"/>
              </a:solidFill>
              <a:latin typeface="Roboto Bold" panose="020B0604020202020204" charset="0"/>
              <a:ea typeface="Roboto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3386" y="-3002635"/>
            <a:ext cx="18814771" cy="16927642"/>
            <a:chOff x="-2633" y="-2786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-2633" y="-2786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018052" y="595304"/>
            <a:ext cx="6349520" cy="146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sr-Latn-RS" sz="8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Pregled</a:t>
            </a:r>
            <a:endParaRPr lang="en-US" sz="9000" b="1" dirty="0">
              <a:solidFill>
                <a:srgbClr val="31404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905471" y="2845512"/>
            <a:ext cx="7855860" cy="899524"/>
            <a:chOff x="0" y="0"/>
            <a:chExt cx="1162051" cy="2369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62051" cy="236912"/>
            </a:xfrm>
            <a:custGeom>
              <a:avLst/>
              <a:gdLst/>
              <a:ahLst/>
              <a:cxnLst/>
              <a:rect l="l" t="t" r="r" b="b"/>
              <a:pathLst>
                <a:path w="1162051" h="236912">
                  <a:moveTo>
                    <a:pt x="54395" y="0"/>
                  </a:moveTo>
                  <a:lnTo>
                    <a:pt x="1107656" y="0"/>
                  </a:lnTo>
                  <a:cubicBezTo>
                    <a:pt x="1137698" y="0"/>
                    <a:pt x="1162051" y="24353"/>
                    <a:pt x="1162051" y="54395"/>
                  </a:cubicBezTo>
                  <a:lnTo>
                    <a:pt x="1162051" y="182517"/>
                  </a:lnTo>
                  <a:cubicBezTo>
                    <a:pt x="1162051" y="212558"/>
                    <a:pt x="1137698" y="236912"/>
                    <a:pt x="1107656" y="236912"/>
                  </a:cubicBezTo>
                  <a:lnTo>
                    <a:pt x="54395" y="236912"/>
                  </a:lnTo>
                  <a:cubicBezTo>
                    <a:pt x="39969" y="236912"/>
                    <a:pt x="26133" y="231181"/>
                    <a:pt x="15932" y="220980"/>
                  </a:cubicBezTo>
                  <a:cubicBezTo>
                    <a:pt x="5731" y="210779"/>
                    <a:pt x="0" y="196943"/>
                    <a:pt x="0" y="182517"/>
                  </a:cubicBezTo>
                  <a:lnTo>
                    <a:pt x="0" y="54395"/>
                  </a:lnTo>
                  <a:cubicBezTo>
                    <a:pt x="0" y="24353"/>
                    <a:pt x="24353" y="0"/>
                    <a:pt x="54395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62051" cy="275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010344" y="2921850"/>
            <a:ext cx="6815074" cy="67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sr-Latn-RS" sz="36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Motivacija i problem</a:t>
            </a:r>
            <a:endParaRPr lang="en-US" sz="36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760723" y="2658976"/>
            <a:ext cx="1216873" cy="121687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sz="110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80494" y="2922054"/>
            <a:ext cx="1119043" cy="67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  <a:sym typeface="Open Sans Bold"/>
              </a:rPr>
              <a:t>01</a:t>
            </a:r>
            <a:endParaRPr lang="en-US" sz="4800" b="1" dirty="0">
              <a:solidFill>
                <a:srgbClr val="FFFFFF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  <a:sym typeface="Open Sans Bol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114862" y="4380505"/>
            <a:ext cx="7746060" cy="1044185"/>
            <a:chOff x="-19463" y="-38100"/>
            <a:chExt cx="1181514" cy="275012"/>
          </a:xfrm>
        </p:grpSpPr>
        <p:sp>
          <p:nvSpPr>
            <p:cNvPr id="20" name="Freeform 20"/>
            <p:cNvSpPr/>
            <p:nvPr/>
          </p:nvSpPr>
          <p:spPr>
            <a:xfrm>
              <a:off x="-19463" y="0"/>
              <a:ext cx="1181514" cy="236912"/>
            </a:xfrm>
            <a:custGeom>
              <a:avLst/>
              <a:gdLst/>
              <a:ahLst/>
              <a:cxnLst/>
              <a:rect l="l" t="t" r="r" b="b"/>
              <a:pathLst>
                <a:path w="1162051" h="236912">
                  <a:moveTo>
                    <a:pt x="54395" y="0"/>
                  </a:moveTo>
                  <a:lnTo>
                    <a:pt x="1107656" y="0"/>
                  </a:lnTo>
                  <a:cubicBezTo>
                    <a:pt x="1137698" y="0"/>
                    <a:pt x="1162051" y="24353"/>
                    <a:pt x="1162051" y="54395"/>
                  </a:cubicBezTo>
                  <a:lnTo>
                    <a:pt x="1162051" y="182517"/>
                  </a:lnTo>
                  <a:cubicBezTo>
                    <a:pt x="1162051" y="212558"/>
                    <a:pt x="1137698" y="236912"/>
                    <a:pt x="1107656" y="236912"/>
                  </a:cubicBezTo>
                  <a:lnTo>
                    <a:pt x="54395" y="236912"/>
                  </a:lnTo>
                  <a:cubicBezTo>
                    <a:pt x="39969" y="236912"/>
                    <a:pt x="26133" y="231181"/>
                    <a:pt x="15932" y="220980"/>
                  </a:cubicBezTo>
                  <a:cubicBezTo>
                    <a:pt x="5731" y="210779"/>
                    <a:pt x="0" y="196943"/>
                    <a:pt x="0" y="182517"/>
                  </a:cubicBezTo>
                  <a:lnTo>
                    <a:pt x="0" y="54395"/>
                  </a:lnTo>
                  <a:cubicBezTo>
                    <a:pt x="0" y="24353"/>
                    <a:pt x="24353" y="0"/>
                    <a:pt x="54395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162051" cy="275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021505" y="4632741"/>
            <a:ext cx="7920706" cy="67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sr-Latn-RS" sz="36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Pregled HTMX tehnologije</a:t>
            </a:r>
            <a:endParaRPr lang="en-US" sz="36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760723" y="4387602"/>
            <a:ext cx="1216873" cy="121687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49376" y="4658130"/>
            <a:ext cx="1119043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44867" y="6486465"/>
            <a:ext cx="7880551" cy="899524"/>
            <a:chOff x="0" y="0"/>
            <a:chExt cx="1162051" cy="236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62051" cy="236912"/>
            </a:xfrm>
            <a:custGeom>
              <a:avLst/>
              <a:gdLst/>
              <a:ahLst/>
              <a:cxnLst/>
              <a:rect l="l" t="t" r="r" b="b"/>
              <a:pathLst>
                <a:path w="1162051" h="236912">
                  <a:moveTo>
                    <a:pt x="54395" y="0"/>
                  </a:moveTo>
                  <a:lnTo>
                    <a:pt x="1107656" y="0"/>
                  </a:lnTo>
                  <a:cubicBezTo>
                    <a:pt x="1137698" y="0"/>
                    <a:pt x="1162051" y="24353"/>
                    <a:pt x="1162051" y="54395"/>
                  </a:cubicBezTo>
                  <a:lnTo>
                    <a:pt x="1162051" y="182517"/>
                  </a:lnTo>
                  <a:cubicBezTo>
                    <a:pt x="1162051" y="212558"/>
                    <a:pt x="1137698" y="236912"/>
                    <a:pt x="1107656" y="236912"/>
                  </a:cubicBezTo>
                  <a:lnTo>
                    <a:pt x="54395" y="236912"/>
                  </a:lnTo>
                  <a:cubicBezTo>
                    <a:pt x="39969" y="236912"/>
                    <a:pt x="26133" y="231181"/>
                    <a:pt x="15932" y="220980"/>
                  </a:cubicBezTo>
                  <a:cubicBezTo>
                    <a:pt x="5731" y="210779"/>
                    <a:pt x="0" y="196943"/>
                    <a:pt x="0" y="182517"/>
                  </a:cubicBezTo>
                  <a:lnTo>
                    <a:pt x="0" y="54395"/>
                  </a:lnTo>
                  <a:cubicBezTo>
                    <a:pt x="0" y="24353"/>
                    <a:pt x="24353" y="0"/>
                    <a:pt x="54395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162051" cy="275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026941" y="6559782"/>
            <a:ext cx="6815074" cy="65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6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</a:t>
            </a:r>
            <a:r>
              <a:rPr lang="sr-Latn-RS" sz="36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oređenje sa SPA pristupom</a:t>
            </a:r>
            <a:endParaRPr lang="en-US" sz="36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834904" y="6319889"/>
            <a:ext cx="1175700" cy="1224136"/>
            <a:chOff x="37052" y="-81051"/>
            <a:chExt cx="812800" cy="817651"/>
          </a:xfrm>
        </p:grpSpPr>
        <p:sp>
          <p:nvSpPr>
            <p:cNvPr id="32" name="Freeform 32"/>
            <p:cNvSpPr/>
            <p:nvPr/>
          </p:nvSpPr>
          <p:spPr>
            <a:xfrm>
              <a:off x="37052" y="-8105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808563" y="6583837"/>
            <a:ext cx="1119043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493144" y="2628739"/>
            <a:ext cx="1338853" cy="2581135"/>
            <a:chOff x="76200" y="-987447"/>
            <a:chExt cx="894276" cy="1724047"/>
          </a:xfrm>
        </p:grpSpPr>
        <p:sp>
          <p:nvSpPr>
            <p:cNvPr id="40" name="Freeform 40"/>
            <p:cNvSpPr/>
            <p:nvPr/>
          </p:nvSpPr>
          <p:spPr>
            <a:xfrm>
              <a:off x="157676" y="-987447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841317" y="4426170"/>
            <a:ext cx="8047632" cy="1044184"/>
            <a:chOff x="0" y="-38100"/>
            <a:chExt cx="1220172" cy="275012"/>
          </a:xfrm>
        </p:grpSpPr>
        <p:sp>
          <p:nvSpPr>
            <p:cNvPr id="44" name="Freeform 44"/>
            <p:cNvSpPr/>
            <p:nvPr/>
          </p:nvSpPr>
          <p:spPr>
            <a:xfrm>
              <a:off x="8307" y="-2381"/>
              <a:ext cx="1211865" cy="236912"/>
            </a:xfrm>
            <a:custGeom>
              <a:avLst/>
              <a:gdLst/>
              <a:ahLst/>
              <a:cxnLst/>
              <a:rect l="l" t="t" r="r" b="b"/>
              <a:pathLst>
                <a:path w="1162051" h="236912">
                  <a:moveTo>
                    <a:pt x="54395" y="0"/>
                  </a:moveTo>
                  <a:lnTo>
                    <a:pt x="1107656" y="0"/>
                  </a:lnTo>
                  <a:cubicBezTo>
                    <a:pt x="1137698" y="0"/>
                    <a:pt x="1162051" y="24353"/>
                    <a:pt x="1162051" y="54395"/>
                  </a:cubicBezTo>
                  <a:lnTo>
                    <a:pt x="1162051" y="182517"/>
                  </a:lnTo>
                  <a:cubicBezTo>
                    <a:pt x="1162051" y="212558"/>
                    <a:pt x="1137698" y="236912"/>
                    <a:pt x="1107656" y="236912"/>
                  </a:cubicBezTo>
                  <a:lnTo>
                    <a:pt x="54395" y="236912"/>
                  </a:lnTo>
                  <a:cubicBezTo>
                    <a:pt x="39969" y="236912"/>
                    <a:pt x="26133" y="231181"/>
                    <a:pt x="15932" y="220980"/>
                  </a:cubicBezTo>
                  <a:cubicBezTo>
                    <a:pt x="5731" y="210779"/>
                    <a:pt x="0" y="196943"/>
                    <a:pt x="0" y="182517"/>
                  </a:cubicBezTo>
                  <a:lnTo>
                    <a:pt x="0" y="54395"/>
                  </a:lnTo>
                  <a:cubicBezTo>
                    <a:pt x="0" y="24353"/>
                    <a:pt x="24353" y="0"/>
                    <a:pt x="54395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1162051" cy="275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0682044" y="2923011"/>
            <a:ext cx="6985687" cy="688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endParaRPr lang="en-US" sz="4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47" name="Group 47"/>
          <p:cNvGrpSpPr/>
          <p:nvPr/>
        </p:nvGrpSpPr>
        <p:grpSpPr>
          <a:xfrm>
            <a:off x="9613153" y="4366491"/>
            <a:ext cx="1216873" cy="1216873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956255" y="6461240"/>
            <a:ext cx="7932694" cy="899524"/>
            <a:chOff x="0" y="0"/>
            <a:chExt cx="1162051" cy="23691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62051" cy="236912"/>
            </a:xfrm>
            <a:custGeom>
              <a:avLst/>
              <a:gdLst/>
              <a:ahLst/>
              <a:cxnLst/>
              <a:rect l="l" t="t" r="r" b="b"/>
              <a:pathLst>
                <a:path w="1162051" h="236912">
                  <a:moveTo>
                    <a:pt x="54395" y="0"/>
                  </a:moveTo>
                  <a:lnTo>
                    <a:pt x="1107656" y="0"/>
                  </a:lnTo>
                  <a:cubicBezTo>
                    <a:pt x="1137698" y="0"/>
                    <a:pt x="1162051" y="24353"/>
                    <a:pt x="1162051" y="54395"/>
                  </a:cubicBezTo>
                  <a:lnTo>
                    <a:pt x="1162051" y="182517"/>
                  </a:lnTo>
                  <a:cubicBezTo>
                    <a:pt x="1162051" y="212558"/>
                    <a:pt x="1137698" y="236912"/>
                    <a:pt x="1107656" y="236912"/>
                  </a:cubicBezTo>
                  <a:lnTo>
                    <a:pt x="54395" y="236912"/>
                  </a:lnTo>
                  <a:cubicBezTo>
                    <a:pt x="39969" y="236912"/>
                    <a:pt x="26133" y="231181"/>
                    <a:pt x="15932" y="220980"/>
                  </a:cubicBezTo>
                  <a:cubicBezTo>
                    <a:pt x="5731" y="210779"/>
                    <a:pt x="0" y="196943"/>
                    <a:pt x="0" y="182517"/>
                  </a:cubicBezTo>
                  <a:lnTo>
                    <a:pt x="0" y="54395"/>
                  </a:lnTo>
                  <a:cubicBezTo>
                    <a:pt x="0" y="24353"/>
                    <a:pt x="24353" y="0"/>
                    <a:pt x="54395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162051" cy="275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0837102" y="4619390"/>
            <a:ext cx="7175957" cy="65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sr-Latn-RS" sz="36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Tehnička implementacija</a:t>
            </a:r>
            <a:endParaRPr lang="en-US" sz="36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55" name="Group 55"/>
          <p:cNvGrpSpPr/>
          <p:nvPr/>
        </p:nvGrpSpPr>
        <p:grpSpPr>
          <a:xfrm>
            <a:off x="9688074" y="6319889"/>
            <a:ext cx="1216873" cy="1216873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9649513" y="4613236"/>
            <a:ext cx="1119043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sr-Latn-R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  <a:endParaRPr lang="en-US" sz="4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1033215" y="6539611"/>
            <a:ext cx="7041027" cy="65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sr-Latn-RS" sz="36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Zaključak</a:t>
            </a:r>
            <a:endParaRPr lang="en-US" sz="4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9691707" y="6591740"/>
            <a:ext cx="1119043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sr-Latn-R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  <a:endParaRPr lang="en-US" sz="4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85" name="Group 27">
            <a:extLst>
              <a:ext uri="{FF2B5EF4-FFF2-40B4-BE49-F238E27FC236}">
                <a16:creationId xmlns:a16="http://schemas.microsoft.com/office/drawing/2014/main" id="{BB0F7D04-A9CF-6FF3-5602-772E7C0FEDB3}"/>
              </a:ext>
            </a:extLst>
          </p:cNvPr>
          <p:cNvGrpSpPr/>
          <p:nvPr/>
        </p:nvGrpSpPr>
        <p:grpSpPr>
          <a:xfrm>
            <a:off x="3673698" y="2810569"/>
            <a:ext cx="14179392" cy="4933129"/>
            <a:chOff x="0" y="-1062350"/>
            <a:chExt cx="2090866" cy="1299262"/>
          </a:xfrm>
        </p:grpSpPr>
        <p:sp>
          <p:nvSpPr>
            <p:cNvPr id="86" name="Freeform 28">
              <a:extLst>
                <a:ext uri="{FF2B5EF4-FFF2-40B4-BE49-F238E27FC236}">
                  <a16:creationId xmlns:a16="http://schemas.microsoft.com/office/drawing/2014/main" id="{284A62BC-5D96-7127-33AE-B1ECEA7E342F}"/>
                </a:ext>
              </a:extLst>
            </p:cNvPr>
            <p:cNvSpPr/>
            <p:nvPr/>
          </p:nvSpPr>
          <p:spPr>
            <a:xfrm>
              <a:off x="928815" y="-1062350"/>
              <a:ext cx="1162051" cy="236912"/>
            </a:xfrm>
            <a:custGeom>
              <a:avLst/>
              <a:gdLst/>
              <a:ahLst/>
              <a:cxnLst/>
              <a:rect l="l" t="t" r="r" b="b"/>
              <a:pathLst>
                <a:path w="1162051" h="236912">
                  <a:moveTo>
                    <a:pt x="54395" y="0"/>
                  </a:moveTo>
                  <a:lnTo>
                    <a:pt x="1107656" y="0"/>
                  </a:lnTo>
                  <a:cubicBezTo>
                    <a:pt x="1137698" y="0"/>
                    <a:pt x="1162051" y="24353"/>
                    <a:pt x="1162051" y="54395"/>
                  </a:cubicBezTo>
                  <a:lnTo>
                    <a:pt x="1162051" y="182517"/>
                  </a:lnTo>
                  <a:cubicBezTo>
                    <a:pt x="1162051" y="212558"/>
                    <a:pt x="1137698" y="236912"/>
                    <a:pt x="1107656" y="236912"/>
                  </a:cubicBezTo>
                  <a:lnTo>
                    <a:pt x="54395" y="236912"/>
                  </a:lnTo>
                  <a:cubicBezTo>
                    <a:pt x="39969" y="236912"/>
                    <a:pt x="26133" y="231181"/>
                    <a:pt x="15932" y="220980"/>
                  </a:cubicBezTo>
                  <a:cubicBezTo>
                    <a:pt x="5731" y="210779"/>
                    <a:pt x="0" y="196943"/>
                    <a:pt x="0" y="182517"/>
                  </a:cubicBezTo>
                  <a:lnTo>
                    <a:pt x="0" y="54395"/>
                  </a:lnTo>
                  <a:cubicBezTo>
                    <a:pt x="0" y="24353"/>
                    <a:pt x="24353" y="0"/>
                    <a:pt x="54395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29">
              <a:extLst>
                <a:ext uri="{FF2B5EF4-FFF2-40B4-BE49-F238E27FC236}">
                  <a16:creationId xmlns:a16="http://schemas.microsoft.com/office/drawing/2014/main" id="{DB29B0EB-AC4F-0BBD-D20D-2D1F6014B377}"/>
                </a:ext>
              </a:extLst>
            </p:cNvPr>
            <p:cNvSpPr txBox="1"/>
            <p:nvPr/>
          </p:nvSpPr>
          <p:spPr>
            <a:xfrm>
              <a:off x="0" y="-38100"/>
              <a:ext cx="1162051" cy="275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TextBox 58">
            <a:extLst>
              <a:ext uri="{FF2B5EF4-FFF2-40B4-BE49-F238E27FC236}">
                <a16:creationId xmlns:a16="http://schemas.microsoft.com/office/drawing/2014/main" id="{565B4F1F-9D66-6106-146B-CD519BA41D13}"/>
              </a:ext>
            </a:extLst>
          </p:cNvPr>
          <p:cNvSpPr txBox="1"/>
          <p:nvPr/>
        </p:nvSpPr>
        <p:spPr>
          <a:xfrm>
            <a:off x="9669216" y="2894913"/>
            <a:ext cx="1119043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89" name="TextBox 54">
            <a:extLst>
              <a:ext uri="{FF2B5EF4-FFF2-40B4-BE49-F238E27FC236}">
                <a16:creationId xmlns:a16="http://schemas.microsoft.com/office/drawing/2014/main" id="{78B314A0-8D0D-CA0E-EC4F-697FBAB496E2}"/>
              </a:ext>
            </a:extLst>
          </p:cNvPr>
          <p:cNvSpPr txBox="1"/>
          <p:nvPr/>
        </p:nvSpPr>
        <p:spPr>
          <a:xfrm>
            <a:off x="10898285" y="2894071"/>
            <a:ext cx="7175957" cy="659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3600" dirty="0" err="1">
                <a:solidFill>
                  <a:schemeClr val="bg1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Demonstracioni</a:t>
            </a:r>
            <a:r>
              <a:rPr lang="en-US" sz="3600" dirty="0"/>
              <a:t> </a:t>
            </a:r>
            <a:r>
              <a:rPr lang="en-US" sz="3600" dirty="0" err="1">
                <a:solidFill>
                  <a:schemeClr val="bg1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projekat</a:t>
            </a:r>
            <a:endParaRPr lang="en-US" sz="3600" b="1" dirty="0">
              <a:solidFill>
                <a:schemeClr val="bg1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  <a:sym typeface="Open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19200" y="935371"/>
            <a:ext cx="14661750" cy="1468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sr-Latn-RS" sz="8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Problem u savremenom razvoju</a:t>
            </a:r>
            <a:endParaRPr lang="en-US" sz="8000" b="1" dirty="0">
              <a:solidFill>
                <a:srgbClr val="31404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906000" y="7596050"/>
            <a:ext cx="8229600" cy="1572866"/>
          </a:xfrm>
          <a:prstGeom prst="rect">
            <a:avLst/>
          </a:prstGeom>
          <a:ln>
            <a:solidFill>
              <a:srgbClr val="31404B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sr-Latn-R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Pitanje:</a:t>
            </a:r>
          </a:p>
          <a:p>
            <a:pPr algn="just"/>
            <a:r>
              <a:rPr lang="pl-PL" sz="36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Da li nam je uvek potreban SPA?</a:t>
            </a:r>
            <a:endParaRPr lang="pl-PL" sz="3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AutoShape 14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C2CE31-8CAB-B1AD-4444-304C4939718F}"/>
              </a:ext>
            </a:extLst>
          </p:cNvPr>
          <p:cNvSpPr txBox="1"/>
          <p:nvPr/>
        </p:nvSpPr>
        <p:spPr>
          <a:xfrm>
            <a:off x="1219200" y="2487934"/>
            <a:ext cx="16611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Česta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upotreba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SPA framework-a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situacijama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kada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nisu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neophodni</a:t>
            </a:r>
            <a:endParaRPr lang="sr-Latn-RS" sz="3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CRUD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administrativne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aplikacije</a:t>
            </a:r>
            <a:r>
              <a:rPr lang="sr-Latn-R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pl-PL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često traže samo parcijalne izmene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korisničk</a:t>
            </a:r>
            <a:r>
              <a:rPr lang="sr-Latn-R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og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interfejs</a:t>
            </a:r>
            <a:r>
              <a:rPr lang="sr-Latn-R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Prekomerna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kompleksnost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endParaRPr lang="sr-Latn-RS" sz="3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proces</a:t>
            </a:r>
            <a:endParaRPr lang="sr-Latn-RS" sz="3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API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sloj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(JSON)</a:t>
            </a:r>
            <a:endParaRPr lang="sr-Latn-RS" sz="3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upliranje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logike</a:t>
            </a:r>
            <a:r>
              <a:rPr 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(frontend + backend)</a:t>
            </a:r>
            <a:endParaRPr lang="sr-Latn-RS" sz="3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0C6C7-D2EF-26F0-ECF6-B6345BE0A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92" y="1327078"/>
            <a:ext cx="17373600" cy="998538"/>
          </a:xfrm>
        </p:spPr>
        <p:txBody>
          <a:bodyPr>
            <a:noAutofit/>
          </a:bodyPr>
          <a:lstStyle/>
          <a:p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Uobičajeni</a:t>
            </a: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pristupi</a:t>
            </a:r>
            <a:endParaRPr lang="en-US" sz="80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52A69-B0E2-8A98-4C44-064808EED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2100" y="2884090"/>
            <a:ext cx="4727575" cy="63976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 </a:t>
            </a:r>
            <a:r>
              <a:rPr lang="en-US" sz="44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pristup</a:t>
            </a:r>
            <a:endParaRPr lang="en-US" sz="44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CCD52-9E6F-8D17-D821-E4A748B3C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401300" y="2884090"/>
            <a:ext cx="6324600" cy="63976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44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Klasični</a:t>
            </a:r>
            <a:r>
              <a:rPr lang="en-US" sz="4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server-side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17E83BE-C88C-27D4-2DD0-A3A729460F3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55173" y="3640103"/>
            <a:ext cx="6715991" cy="41549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React / Vue / Angular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JSON API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Client-side rendering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Više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slojeva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(frontend + backend)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36DF21C-8671-D60B-433B-8F8721B4F93B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10401300" y="3719590"/>
            <a:ext cx="6324600" cy="34060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Full page reload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Ograničena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interaktivnost</a:t>
            </a:r>
            <a:endParaRPr lang="en-US" altLang="en-US" sz="3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Sporiji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UX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kod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čestih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akcija</a:t>
            </a:r>
            <a:endParaRPr lang="en-US" altLang="en-US" sz="3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31404B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5E37BA-C7D5-B143-333C-B3BCBB66970A}"/>
              </a:ext>
            </a:extLst>
          </p:cNvPr>
          <p:cNvSpPr txBox="1"/>
          <p:nvPr/>
        </p:nvSpPr>
        <p:spPr>
          <a:xfrm>
            <a:off x="2566103" y="7911338"/>
            <a:ext cx="11410122" cy="1323439"/>
          </a:xfrm>
          <a:prstGeom prst="rect">
            <a:avLst/>
          </a:prstGeom>
          <a:solidFill>
            <a:srgbClr val="FFE0A3"/>
          </a:solidFill>
        </p:spPr>
        <p:txBody>
          <a:bodyPr wrap="square" rtlCol="0">
            <a:spAutoFit/>
          </a:bodyPr>
          <a:lstStyle/>
          <a:p>
            <a:r>
              <a:rPr lang="sr-Latn-RS" sz="4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Zaključak:</a:t>
            </a:r>
          </a:p>
          <a:p>
            <a:r>
              <a:rPr lang="sr-Latn-R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Potrebno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je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rešenje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između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ova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dva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pristupa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C77D5ABA-FCAA-5C0C-0D09-BDB30968C342}"/>
              </a:ext>
            </a:extLst>
          </p:cNvPr>
          <p:cNvSpPr/>
          <p:nvPr/>
        </p:nvSpPr>
        <p:spPr>
          <a:xfrm flipV="1">
            <a:off x="0" y="898154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C3C0359A-6F13-2788-4C07-2A0CBF2CC21F}"/>
              </a:ext>
            </a:extLst>
          </p:cNvPr>
          <p:cNvSpPr/>
          <p:nvPr/>
        </p:nvSpPr>
        <p:spPr>
          <a:xfrm flipV="1">
            <a:off x="608892" y="94869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84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935702" y="860478"/>
            <a:ext cx="7786735" cy="146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Šta</a:t>
            </a: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je HTMX?</a:t>
            </a:r>
            <a:endParaRPr lang="en-US" sz="80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590800" y="2857500"/>
            <a:ext cx="14042602" cy="5589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Frontend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biblioteka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Omogućava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slanje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HTTP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zahteva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direktno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iz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HTML-a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Korišćenjem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hx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-*</a:t>
            </a:r>
            <a:r>
              <a:rPr lang="en-US" altLang="en-US" sz="5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atributa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Bez SPA framework-a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Minimalna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koli</a:t>
            </a:r>
            <a:r>
              <a:rPr lang="sr-Latn-R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čina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JavaScript</a:t>
            </a:r>
            <a:r>
              <a:rPr lang="sr-Latn-R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-a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8461EB-AF92-BFF3-7559-7EAB66518FDA}"/>
              </a:ext>
            </a:extLst>
          </p:cNvPr>
          <p:cNvSpPr txBox="1"/>
          <p:nvPr/>
        </p:nvSpPr>
        <p:spPr>
          <a:xfrm>
            <a:off x="2438400" y="8267700"/>
            <a:ext cx="11890553" cy="707886"/>
          </a:xfrm>
          <a:prstGeom prst="rect">
            <a:avLst/>
          </a:prstGeom>
          <a:noFill/>
          <a:ln>
            <a:solidFill>
              <a:srgbClr val="31404B"/>
            </a:solidFill>
          </a:ln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HTML over the wire – server </a:t>
            </a:r>
            <a:r>
              <a:rPr lang="en-US" sz="4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vraća</a:t>
            </a:r>
            <a:r>
              <a:rPr lang="en-US" sz="4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HTML, ne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733800" y="1182863"/>
            <a:ext cx="10820400" cy="1468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Zašto</a:t>
            </a: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HTMX?</a:t>
            </a:r>
            <a:endParaRPr lang="en-US" sz="80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64151A3-CA0D-67B4-06DC-66D2E5D35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333280"/>
            <a:ext cx="10820400" cy="5529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Parcijalno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osvežavanje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stranice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Jednostavan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HTML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Server-driven UI</a:t>
            </a:r>
            <a:endParaRPr lang="sr-Latn-R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Nema state management-a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</a:t>
            </a:r>
            <a:r>
              <a:rPr lang="sr-Latn-R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klijentu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Lako se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integriše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postojećim</a:t>
            </a:r>
            <a:r>
              <a:rPr lang="sr-Latn-R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backendom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E2D4E-14AA-A0E4-CEA4-136ACDBA9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0199E4D-7049-D412-470A-03AEE41A2CA1}"/>
              </a:ext>
            </a:extLst>
          </p:cNvPr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AB81C06-A6F7-E05A-5F2D-F43870D36EB4}"/>
              </a:ext>
            </a:extLst>
          </p:cNvPr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CB7F8B4-B050-B032-B012-7D91E3634785}"/>
              </a:ext>
            </a:extLst>
          </p:cNvPr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566A1F2-490A-A52C-9D47-D6A2AF1B01D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FF2E284-BF44-B285-E369-470BA3FDD75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0573B3FF-D369-E57D-9D4D-21BF43DA9D80}"/>
              </a:ext>
            </a:extLst>
          </p:cNvPr>
          <p:cNvSpPr txBox="1"/>
          <p:nvPr/>
        </p:nvSpPr>
        <p:spPr>
          <a:xfrm>
            <a:off x="2743200" y="1182863"/>
            <a:ext cx="12801600" cy="1468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Osnovni</a:t>
            </a: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HTMX </a:t>
            </a: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koncepti</a:t>
            </a:r>
            <a:endParaRPr lang="en-US" sz="80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2BCF59D-A5B8-CB44-6301-BF7371C13471}"/>
              </a:ext>
            </a:extLst>
          </p:cNvPr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8D36B49-DA90-E413-7A48-FDF01BAE3D3F}"/>
              </a:ext>
            </a:extLst>
          </p:cNvPr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25ABF47-2932-2346-1020-46980E9DAF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5DECCD7-6A47-9EB2-89DE-843982867E2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>
            <a:extLst>
              <a:ext uri="{FF2B5EF4-FFF2-40B4-BE49-F238E27FC236}">
                <a16:creationId xmlns:a16="http://schemas.microsoft.com/office/drawing/2014/main" id="{5B534DCF-7D7B-5D88-84BC-508658205075}"/>
              </a:ext>
            </a:extLst>
          </p:cNvPr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2680509-4CEE-782D-4DC1-B275CEA66ECB}"/>
              </a:ext>
            </a:extLst>
          </p:cNvPr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4EFD8A-B878-2669-875E-2275F77BF2F0}"/>
              </a:ext>
            </a:extLst>
          </p:cNvPr>
          <p:cNvSpPr txBox="1"/>
          <p:nvPr/>
        </p:nvSpPr>
        <p:spPr>
          <a:xfrm>
            <a:off x="4293152" y="3032104"/>
            <a:ext cx="9701695" cy="627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hx</a:t>
            </a:r>
            <a:r>
              <a:rPr lang="en-US" altLang="en-US" sz="4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-get</a:t>
            </a:r>
            <a:r>
              <a:rPr lang="en-US" altLang="en-US" sz="5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/ </a:t>
            </a:r>
            <a:r>
              <a:rPr lang="en-US" altLang="en-US" sz="4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hx</a:t>
            </a:r>
            <a:r>
              <a:rPr lang="en-US" altLang="en-US" sz="4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-post</a:t>
            </a:r>
            <a:r>
              <a:rPr lang="en-US" altLang="en-US" sz="5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slanje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HTTP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zahteva</a:t>
            </a:r>
            <a:endParaRPr lang="en-US" altLang="en-US" sz="72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hx</a:t>
            </a:r>
            <a:r>
              <a:rPr lang="en-US" altLang="en-US" sz="4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-target</a:t>
            </a:r>
            <a:r>
              <a:rPr lang="en-US" altLang="en-US" sz="5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deo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stranice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koji se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menja</a:t>
            </a:r>
            <a:endParaRPr lang="en-US" altLang="en-US" sz="72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hx</a:t>
            </a:r>
            <a:r>
              <a:rPr lang="en-US" altLang="en-US" sz="4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-swap</a:t>
            </a:r>
            <a:r>
              <a:rPr lang="en-US" altLang="en-US" sz="5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način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ubacivanja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odgovora</a:t>
            </a:r>
            <a:endParaRPr lang="en-US" altLang="en-US" sz="72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hx</a:t>
            </a:r>
            <a:r>
              <a:rPr lang="en-US" altLang="en-US" sz="4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-trigger</a:t>
            </a:r>
            <a:r>
              <a:rPr lang="en-US" altLang="en-US" sz="5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kada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zahtev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šalje</a:t>
            </a:r>
            <a:endParaRPr lang="en-US" altLang="en-US" sz="72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Server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vraća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HTML fragment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ne JSON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07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2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752703" y="227560"/>
            <a:ext cx="12161255" cy="3084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HTMX </a:t>
            </a:r>
            <a:r>
              <a:rPr lang="sr-Latn-R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 poređenju sa</a:t>
            </a: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alternativ</a:t>
            </a:r>
            <a:r>
              <a:rPr lang="sr-Latn-R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ama</a:t>
            </a:r>
            <a:endParaRPr lang="en-US" sz="72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3CF1C61-0F00-9813-9075-5F002648D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08960"/>
              </p:ext>
            </p:extLst>
          </p:nvPr>
        </p:nvGraphicFramePr>
        <p:xfrm>
          <a:off x="1975048" y="3703657"/>
          <a:ext cx="13400469" cy="6101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6823">
                  <a:extLst>
                    <a:ext uri="{9D8B030D-6E8A-4147-A177-3AD203B41FA5}">
                      <a16:colId xmlns:a16="http://schemas.microsoft.com/office/drawing/2014/main" val="3215498899"/>
                    </a:ext>
                  </a:extLst>
                </a:gridCol>
                <a:gridCol w="4479909">
                  <a:extLst>
                    <a:ext uri="{9D8B030D-6E8A-4147-A177-3AD203B41FA5}">
                      <a16:colId xmlns:a16="http://schemas.microsoft.com/office/drawing/2014/main" val="3124042602"/>
                    </a:ext>
                  </a:extLst>
                </a:gridCol>
                <a:gridCol w="4453737">
                  <a:extLst>
                    <a:ext uri="{9D8B030D-6E8A-4147-A177-3AD203B41FA5}">
                      <a16:colId xmlns:a16="http://schemas.microsoft.com/office/drawing/2014/main" val="1092157725"/>
                    </a:ext>
                  </a:extLst>
                </a:gridCol>
              </a:tblGrid>
              <a:tr h="1679187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Tehnologija</a:t>
                      </a:r>
                      <a:endParaRPr lang="en-US" sz="40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45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Prednosti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45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Ograničenja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457200"/>
                </a:tc>
                <a:extLst>
                  <a:ext uri="{0D108BD9-81ED-4DB2-BD59-A6C34878D82A}">
                    <a16:rowId xmlns:a16="http://schemas.microsoft.com/office/drawing/2014/main" val="4004753153"/>
                  </a:ext>
                </a:extLst>
              </a:tr>
              <a:tr h="1132943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React / Vue</a:t>
                      </a:r>
                    </a:p>
                  </a:txBody>
                  <a:tcPr marT="27432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Moćni</a:t>
                      </a:r>
                      <a:r>
                        <a:rPr lang="en-US" sz="24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SPA framework-</a:t>
                      </a:r>
                      <a:r>
                        <a:rPr lang="en-US" sz="2400" dirty="0" err="1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</a:t>
                      </a:r>
                      <a:endParaRPr lang="en-US" sz="2400" dirty="0">
                        <a:solidFill>
                          <a:srgbClr val="31404B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36576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Visoka </a:t>
                      </a:r>
                      <a:r>
                        <a:rPr lang="en-US" sz="2400" dirty="0" err="1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kompleksnost</a:t>
                      </a:r>
                      <a:r>
                        <a:rPr lang="en-US" sz="24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state management</a:t>
                      </a:r>
                    </a:p>
                  </a:txBody>
                  <a:tcPr marT="274320"/>
                </a:tc>
                <a:extLst>
                  <a:ext uri="{0D108BD9-81ED-4DB2-BD59-A6C34878D82A}">
                    <a16:rowId xmlns:a16="http://schemas.microsoft.com/office/drawing/2014/main" val="2611216437"/>
                  </a:ext>
                </a:extLst>
              </a:tr>
              <a:tr h="10545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Livewire</a:t>
                      </a:r>
                      <a:endParaRPr lang="en-US" dirty="0">
                        <a:solidFill>
                          <a:srgbClr val="31404B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27432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Brz</a:t>
                      </a:r>
                      <a:r>
                        <a:rPr lang="en-US" sz="24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razvoj</a:t>
                      </a:r>
                      <a:r>
                        <a:rPr lang="en-US" sz="24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u </a:t>
                      </a:r>
                      <a:r>
                        <a:rPr lang="en-US" sz="2400" dirty="0" err="1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Laravelu</a:t>
                      </a:r>
                      <a:endParaRPr lang="en-US" sz="2400" dirty="0">
                        <a:solidFill>
                          <a:srgbClr val="31404B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36576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Vezan</a:t>
                      </a:r>
                      <a:r>
                        <a:rPr lang="en-US" sz="24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isključivo</a:t>
                      </a:r>
                      <a:r>
                        <a:rPr lang="en-US" sz="24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za Laravel</a:t>
                      </a:r>
                    </a:p>
                  </a:txBody>
                  <a:tcPr marT="365760"/>
                </a:tc>
                <a:extLst>
                  <a:ext uri="{0D108BD9-81ED-4DB2-BD59-A6C34878D82A}">
                    <a16:rowId xmlns:a16="http://schemas.microsoft.com/office/drawing/2014/main" val="2904438561"/>
                  </a:ext>
                </a:extLst>
              </a:tr>
              <a:tr h="1171721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Alpine.js</a:t>
                      </a:r>
                    </a:p>
                  </a:txBody>
                  <a:tcPr marT="27432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Lagan JS za UI</a:t>
                      </a:r>
                    </a:p>
                  </a:txBody>
                  <a:tcPr marT="36576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Više</a:t>
                      </a:r>
                      <a:r>
                        <a:rPr lang="en-US" sz="24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klijentske</a:t>
                      </a:r>
                      <a:r>
                        <a:rPr lang="en-US" sz="2400" dirty="0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3140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logike</a:t>
                      </a:r>
                      <a:endParaRPr lang="en-US" sz="2400" dirty="0">
                        <a:solidFill>
                          <a:srgbClr val="31404B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365760"/>
                </a:tc>
                <a:extLst>
                  <a:ext uri="{0D108BD9-81ED-4DB2-BD59-A6C34878D82A}">
                    <a16:rowId xmlns:a16="http://schemas.microsoft.com/office/drawing/2014/main" val="1825924879"/>
                  </a:ext>
                </a:extLst>
              </a:tr>
              <a:tr h="1063277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rgbClr val="F9473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HTMX</a:t>
                      </a:r>
                    </a:p>
                  </a:txBody>
                  <a:tcPr marT="27432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F9473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Minimalizam</a:t>
                      </a:r>
                      <a:r>
                        <a:rPr lang="en-US" sz="2400" dirty="0">
                          <a:solidFill>
                            <a:srgbClr val="F9473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server-driven UI</a:t>
                      </a:r>
                    </a:p>
                  </a:txBody>
                  <a:tcPr marT="365760"/>
                </a:tc>
                <a:tc>
                  <a:txBody>
                    <a:bodyPr/>
                    <a:lstStyle/>
                    <a:p>
                      <a:r>
                        <a:rPr lang="pl-PL" sz="2400" dirty="0">
                          <a:solidFill>
                            <a:srgbClr val="F9473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Manje pogodan za kompleksan client-state</a:t>
                      </a:r>
                      <a:endParaRPr lang="en-US" sz="2400" dirty="0">
                        <a:solidFill>
                          <a:srgbClr val="F94739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274320"/>
                </a:tc>
                <a:extLst>
                  <a:ext uri="{0D108BD9-81ED-4DB2-BD59-A6C34878D82A}">
                    <a16:rowId xmlns:a16="http://schemas.microsoft.com/office/drawing/2014/main" val="24783837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00200" y="1182863"/>
            <a:ext cx="14280750" cy="1468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Demonstracioni</a:t>
            </a: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projekat</a:t>
            </a:r>
            <a:endParaRPr lang="en-US" sz="80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562754" y="3370358"/>
            <a:ext cx="8030281" cy="5235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To-Do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aplikacija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Fokus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CRUD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operacije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Bez SPA framework-a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Laravel + Blade + HTMX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MySQL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baza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71500" indent="-571500" algn="just">
              <a:lnSpc>
                <a:spcPts val="5179"/>
              </a:lnSpc>
              <a:buFont typeface="Arial" panose="020B0604020202020204" pitchFamily="34" charset="0"/>
              <a:buChar char="•"/>
            </a:pPr>
            <a:endParaRPr lang="en-US" sz="3699" b="1" dirty="0">
              <a:solidFill>
                <a:srgbClr val="31404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b="1"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78322" y="847725"/>
            <a:ext cx="12361678" cy="1468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Demo </a:t>
            </a: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aplikacije</a:t>
            </a: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Tasks++</a:t>
            </a:r>
            <a:endParaRPr lang="en-US" sz="80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410200" y="3281840"/>
            <a:ext cx="6331912" cy="464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41EDD6-384C-F557-7740-69292650F842}"/>
              </a:ext>
            </a:extLst>
          </p:cNvPr>
          <p:cNvSpPr txBox="1"/>
          <p:nvPr/>
        </p:nvSpPr>
        <p:spPr>
          <a:xfrm>
            <a:off x="2453025" y="3310360"/>
            <a:ext cx="13212271" cy="4421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Demonstracija</a:t>
            </a:r>
            <a:r>
              <a:rPr lang="en-US" sz="48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rada </a:t>
            </a:r>
            <a:r>
              <a:rPr lang="en-US" sz="48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aplikacije</a:t>
            </a:r>
            <a:r>
              <a:rPr lang="en-US" sz="48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48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pomoću</a:t>
            </a:r>
            <a:r>
              <a:rPr lang="en-US" sz="48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HTMX-a</a:t>
            </a:r>
            <a:endParaRPr lang="en-US" altLang="en-US" sz="44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Live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pretraga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taskova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Označavanje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taska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kao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završenog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(toggle done)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Automatsko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ažuriranje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statistike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Bez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osvežavanja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cele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stranice</a:t>
            </a:r>
            <a:r>
              <a:rPr lang="en-U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(no full page reload</a:t>
            </a:r>
            <a:r>
              <a:rPr lang="sr-Latn-RS" alt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en-US" sz="9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1914115D-6330-B369-E914-6830BA053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45898AB5-7125-C9D8-4F10-AAFDC0F57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670FAACD-7742-064A-29F4-CE98F2DFA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52C5BE3-4553-5FC3-55A3-EF4404D70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16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8804" y="72104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-552858" y="8077767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929878" y="9119822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267200" y="1142831"/>
            <a:ext cx="9107536" cy="3116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599"/>
              </a:lnSpc>
            </a:pP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Arhitektura</a:t>
            </a: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rešenja</a:t>
            </a:r>
            <a:endParaRPr lang="en-US" sz="80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ts val="12599"/>
              </a:lnSpc>
            </a:pPr>
            <a:endParaRPr lang="en-US" sz="9000" b="1" dirty="0">
              <a:solidFill>
                <a:srgbClr val="31404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22DC21-3C7B-3822-68A9-8892AB4F97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779" y="2971497"/>
            <a:ext cx="14632442" cy="43440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34B9407-A455-DA51-892F-5B381C156381}"/>
              </a:ext>
            </a:extLst>
          </p:cNvPr>
          <p:cNvSpPr txBox="1"/>
          <p:nvPr/>
        </p:nvSpPr>
        <p:spPr>
          <a:xfrm>
            <a:off x="3975731" y="7492991"/>
            <a:ext cx="9690473" cy="584775"/>
          </a:xfrm>
          <a:prstGeom prst="rect">
            <a:avLst/>
          </a:prstGeom>
          <a:solidFill>
            <a:srgbClr val="FFE0A3"/>
          </a:solidFill>
        </p:spPr>
        <p:txBody>
          <a:bodyPr wrap="none" rtlCol="0">
            <a:spAutoFit/>
          </a:bodyPr>
          <a:lstStyle/>
          <a:p>
            <a:r>
              <a:rPr lang="sr-Latn-R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Klijent šalje zahtev 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→</a:t>
            </a:r>
            <a:r>
              <a:rPr lang="sr-Latn-R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server vraća HTML fragment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B65D4B-2268-3A83-1DB4-0146E4236C85}"/>
              </a:ext>
            </a:extLst>
          </p:cNvPr>
          <p:cNvSpPr txBox="1"/>
          <p:nvPr/>
        </p:nvSpPr>
        <p:spPr>
          <a:xfrm>
            <a:off x="7086600" y="8432438"/>
            <a:ext cx="2985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400" i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US" sz="2400" i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HTML over the wire</a:t>
            </a:r>
            <a:r>
              <a:rPr lang="sr-Latn-RS" sz="2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en-US" sz="24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93434-FD40-1F81-00F7-CDE9E156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4257104-C497-A8D8-2399-C425537AB2AD}"/>
              </a:ext>
            </a:extLst>
          </p:cNvPr>
          <p:cNvGrpSpPr/>
          <p:nvPr/>
        </p:nvGrpSpPr>
        <p:grpSpPr>
          <a:xfrm>
            <a:off x="-2469890" y="-3320321"/>
            <a:ext cx="19729171" cy="16927642"/>
            <a:chOff x="-1" y="0"/>
            <a:chExt cx="1014692" cy="87060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CD02F1D-A81B-8ADD-4CA7-9CFFDE627594}"/>
                </a:ext>
              </a:extLst>
            </p:cNvPr>
            <p:cNvSpPr/>
            <p:nvPr/>
          </p:nvSpPr>
          <p:spPr>
            <a:xfrm>
              <a:off x="-1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2D3E551-C9F6-A7AA-3381-2DAA568A702E}"/>
                </a:ext>
              </a:extLst>
            </p:cNvPr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b="1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2DE1C0A-2014-660B-9C30-58A2139ECA7B}"/>
              </a:ext>
            </a:extLst>
          </p:cNvPr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20636DA-1155-10FE-0BDE-92A0D01AE359}"/>
              </a:ext>
            </a:extLst>
          </p:cNvPr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B1E14D9E-59D9-44EA-E0CD-54C033C59675}"/>
              </a:ext>
            </a:extLst>
          </p:cNvPr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361D33A-413A-9D23-CCC5-F9951566A23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CF1F5AE-F8F9-515D-EB0D-CF4A378D224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082DBDA8-D25E-7E72-4690-5540A4BADCEF}"/>
              </a:ext>
            </a:extLst>
          </p:cNvPr>
          <p:cNvSpPr txBox="1"/>
          <p:nvPr/>
        </p:nvSpPr>
        <p:spPr>
          <a:xfrm>
            <a:off x="1369160" y="883418"/>
            <a:ext cx="16639030" cy="1468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Struktura</a:t>
            </a: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projekta</a:t>
            </a:r>
            <a:r>
              <a:rPr lang="en-U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(server-driven UI)</a:t>
            </a:r>
            <a:endParaRPr lang="en-US" sz="80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67A35AE-8D44-34FD-0F8B-24151AD6CC07}"/>
              </a:ext>
            </a:extLst>
          </p:cNvPr>
          <p:cNvSpPr txBox="1"/>
          <p:nvPr/>
        </p:nvSpPr>
        <p:spPr>
          <a:xfrm>
            <a:off x="5410200" y="3281840"/>
            <a:ext cx="6331912" cy="464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0ABE64-7103-4E28-AB21-852DE356429A}"/>
              </a:ext>
            </a:extLst>
          </p:cNvPr>
          <p:cNvSpPr txBox="1"/>
          <p:nvPr/>
        </p:nvSpPr>
        <p:spPr>
          <a:xfrm>
            <a:off x="2860736" y="2451575"/>
            <a:ext cx="11378436" cy="60016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routes/</a:t>
            </a:r>
            <a:r>
              <a:rPr lang="en-US" sz="4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web.php</a:t>
            </a:r>
            <a:endParaRPr lang="en-US" sz="48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4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app/Http/Controllers/</a:t>
            </a:r>
            <a:r>
              <a:rPr lang="en-US" sz="4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TaskController.php</a:t>
            </a:r>
            <a:endParaRPr lang="en-US" sz="48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4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resources/views/tasks/</a:t>
            </a:r>
          </a:p>
          <a:p>
            <a:r>
              <a:rPr lang="en-US" sz="4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├── _</a:t>
            </a:r>
            <a:r>
              <a:rPr lang="en-US" sz="4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item.blade.php</a:t>
            </a:r>
            <a:endParaRPr lang="en-US" sz="48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4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├── _</a:t>
            </a:r>
            <a:r>
              <a:rPr lang="en-US" sz="4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region.blade.php</a:t>
            </a:r>
            <a:endParaRPr lang="en-US" sz="48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4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└── _</a:t>
            </a:r>
            <a:r>
              <a:rPr lang="en-US" sz="4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oob.blade.php</a:t>
            </a:r>
            <a:endParaRPr lang="en-US" sz="48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4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app/Models/</a:t>
            </a:r>
            <a:r>
              <a:rPr lang="en-US" sz="4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Task.php</a:t>
            </a:r>
            <a:endParaRPr lang="en-US" sz="48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48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4D3CC8B-25F0-CA7D-DA64-6A9772ACE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0DABCE93-C3BC-9A8B-5A60-C64321646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FC30B11-A618-EE84-CA70-2723E5C6B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75220AD-9350-59D9-278A-B10D2AD82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16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A08553-4E03-9784-668B-92C367D6A474}"/>
              </a:ext>
            </a:extLst>
          </p:cNvPr>
          <p:cNvSpPr txBox="1"/>
          <p:nvPr/>
        </p:nvSpPr>
        <p:spPr>
          <a:xfrm>
            <a:off x="2703046" y="8584979"/>
            <a:ext cx="149306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UI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poslovna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logika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generišu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serveru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kroz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Blade </a:t>
            </a:r>
            <a:r>
              <a:rPr lang="en-US" sz="40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partiale</a:t>
            </a:r>
            <a:r>
              <a:rPr lang="en-US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sr-Latn-R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40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Frontend nema sopstveni state niti SPA sloj.</a:t>
            </a:r>
          </a:p>
        </p:txBody>
      </p:sp>
    </p:spTree>
    <p:extLst>
      <p:ext uri="{BB962C8B-B14F-4D97-AF65-F5344CB8AC3E}">
        <p14:creationId xmlns:p14="http://schemas.microsoft.com/office/powerpoint/2010/main" val="1214189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41171" y="-2628900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374640" y="-1143847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1641315" y="187358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770958" y="0"/>
            <a:ext cx="13154842" cy="1404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6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Primer: </a:t>
            </a:r>
            <a:r>
              <a:rPr lang="en-US" sz="6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Dodavanje</a:t>
            </a:r>
            <a:r>
              <a:rPr lang="en-US" sz="6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6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taska</a:t>
            </a:r>
            <a:r>
              <a:rPr lang="en-US" sz="6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bez reload-a</a:t>
            </a:r>
            <a:endParaRPr lang="en-US" sz="60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D2F95-5A91-D683-33E6-5E3D20EF4BF1}"/>
              </a:ext>
            </a:extLst>
          </p:cNvPr>
          <p:cNvSpPr txBox="1"/>
          <p:nvPr/>
        </p:nvSpPr>
        <p:spPr>
          <a:xfrm>
            <a:off x="1143000" y="2388943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F3BD8B72-A817-0BED-12FE-88AE2AE16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1E1F58D4-FB78-78DC-AFDF-C95EC006E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1DB864-6BDF-DB27-9BD0-1E5ACD8D2F47}"/>
              </a:ext>
            </a:extLst>
          </p:cNvPr>
          <p:cNvSpPr txBox="1"/>
          <p:nvPr/>
        </p:nvSpPr>
        <p:spPr>
          <a:xfrm>
            <a:off x="10210800" y="7505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6532E201-1ED4-49BE-2C10-3C0B51585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31F355-26C3-50DA-B29A-17F562F642C5}"/>
              </a:ext>
            </a:extLst>
          </p:cNvPr>
          <p:cNvSpPr txBox="1"/>
          <p:nvPr/>
        </p:nvSpPr>
        <p:spPr>
          <a:xfrm>
            <a:off x="11448033" y="6606740"/>
            <a:ext cx="699840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validacija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parsiranje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inputa</a:t>
            </a:r>
            <a:endParaRPr lang="en-US" altLang="en-US" sz="28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čuvanje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 MySQL </a:t>
            </a: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bazu</a:t>
            </a:r>
            <a:endParaRPr lang="en-US" altLang="en-US" sz="28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povrat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HTML partial-a, ne JSON-a</a:t>
            </a:r>
          </a:p>
          <a:p>
            <a:endParaRPr lang="en-US" dirty="0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09C8D103-9178-93CE-9417-BA267174E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01A33C2-7DEA-7976-CA0E-28DDCDB28A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70" y="2573609"/>
            <a:ext cx="8743159" cy="229287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7475ABA-3C86-07A1-35F3-4CD13CC7B54D}"/>
              </a:ext>
            </a:extLst>
          </p:cNvPr>
          <p:cNvSpPr txBox="1"/>
          <p:nvPr/>
        </p:nvSpPr>
        <p:spPr>
          <a:xfrm>
            <a:off x="9345751" y="2573609"/>
            <a:ext cx="873750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b="1" dirty="0" err="1">
                <a:solidFill>
                  <a:srgbClr val="31404B"/>
                </a:solidFill>
                <a:latin typeface="Consolas" panose="020B0609020204030204" pitchFamily="49" charset="0"/>
              </a:rPr>
              <a:t>hx</a:t>
            </a:r>
            <a:r>
              <a:rPr lang="en-US" sz="3200" b="1" dirty="0">
                <a:solidFill>
                  <a:srgbClr val="31404B"/>
                </a:solidFill>
                <a:latin typeface="Consolas" panose="020B0609020204030204" pitchFamily="49" charset="0"/>
              </a:rPr>
              <a:t>-post</a:t>
            </a:r>
            <a:r>
              <a:rPr lang="en-US" altLang="en-US" dirty="0">
                <a:solidFill>
                  <a:srgbClr val="31404B"/>
                </a:solidFill>
              </a:rPr>
              <a:t> 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šalje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POST </a:t>
            </a: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zahtev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serveru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 err="1">
                <a:solidFill>
                  <a:srgbClr val="31404B"/>
                </a:solidFill>
                <a:latin typeface="Consolas" panose="020B0609020204030204" pitchFamily="49" charset="0"/>
              </a:rPr>
              <a:t>hx</a:t>
            </a:r>
            <a:r>
              <a:rPr lang="en-US" altLang="en-US" sz="3200" b="1" dirty="0">
                <a:solidFill>
                  <a:srgbClr val="31404B"/>
                </a:solidFill>
                <a:latin typeface="Consolas" panose="020B0609020204030204" pitchFamily="49" charset="0"/>
              </a:rPr>
              <a:t>-target</a:t>
            </a:r>
            <a:r>
              <a:rPr lang="en-US" altLang="en-US" sz="2000" dirty="0">
                <a:solidFill>
                  <a:srgbClr val="31404B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</a:t>
            </a:r>
            <a:r>
              <a:rPr lang="sr-Latn-R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deo </a:t>
            </a:r>
            <a:r>
              <a:rPr 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stranice</a:t>
            </a:r>
            <a:r>
              <a:rPr 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koji se </a:t>
            </a:r>
            <a:r>
              <a:rPr 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menja</a:t>
            </a:r>
            <a:endParaRPr lang="en-US" altLang="en-US" sz="28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 err="1">
                <a:solidFill>
                  <a:srgbClr val="31404B"/>
                </a:solidFill>
                <a:latin typeface="Consolas" panose="020B0609020204030204" pitchFamily="49" charset="0"/>
              </a:rPr>
              <a:t>hx</a:t>
            </a:r>
            <a:r>
              <a:rPr lang="en-US" altLang="en-US" sz="3200" b="1" dirty="0">
                <a:solidFill>
                  <a:srgbClr val="31404B"/>
                </a:solidFill>
                <a:latin typeface="Consolas" panose="020B0609020204030204" pitchFamily="49" charset="0"/>
              </a:rPr>
              <a:t>-swap="</a:t>
            </a:r>
            <a:r>
              <a:rPr lang="en-US" altLang="en-US" sz="3200" b="1" dirty="0" err="1">
                <a:solidFill>
                  <a:srgbClr val="31404B"/>
                </a:solidFill>
                <a:latin typeface="Consolas" panose="020B0609020204030204" pitchFamily="49" charset="0"/>
              </a:rPr>
              <a:t>afterbegin</a:t>
            </a:r>
            <a:r>
              <a:rPr lang="en-US" altLang="en-US" sz="3200" b="1" dirty="0">
                <a:solidFill>
                  <a:srgbClr val="31404B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400" b="1" dirty="0">
                <a:solidFill>
                  <a:srgbClr val="31404B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novi task se </a:t>
            </a: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ubacuje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vrh</a:t>
            </a:r>
            <a:r>
              <a:rPr lang="en-US" altLang="en-US" sz="28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28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liste</a:t>
            </a:r>
            <a:endParaRPr lang="en-US" altLang="en-US" sz="40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9893AC-B56B-7CA5-4F63-CE2C3FB89986}"/>
              </a:ext>
            </a:extLst>
          </p:cNvPr>
          <p:cNvSpPr txBox="1"/>
          <p:nvPr/>
        </p:nvSpPr>
        <p:spPr>
          <a:xfrm>
            <a:off x="339310" y="1927683"/>
            <a:ext cx="48654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HTML + HTMX (frontend)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4812E0-003A-AB86-34FF-E554390D487E}"/>
              </a:ext>
            </a:extLst>
          </p:cNvPr>
          <p:cNvSpPr txBox="1"/>
          <p:nvPr/>
        </p:nvSpPr>
        <p:spPr>
          <a:xfrm>
            <a:off x="264259" y="5343369"/>
            <a:ext cx="6901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Laravel backend (server-side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logika</a:t>
            </a:r>
            <a:r>
              <a:rPr lang="en-US" sz="3200" dirty="0"/>
              <a:t>)</a:t>
            </a:r>
            <a:endParaRPr lang="en-US" sz="32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7771048-574E-EB74-0FE0-7CAF4193F6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10" y="6071685"/>
            <a:ext cx="10902271" cy="299528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E560797-B199-39F1-A885-48A3E70AA0FC}"/>
              </a:ext>
            </a:extLst>
          </p:cNvPr>
          <p:cNvSpPr txBox="1"/>
          <p:nvPr/>
        </p:nvSpPr>
        <p:spPr>
          <a:xfrm>
            <a:off x="408431" y="9307048"/>
            <a:ext cx="8148384" cy="830997"/>
          </a:xfrm>
          <a:prstGeom prst="rect">
            <a:avLst/>
          </a:prstGeom>
          <a:solidFill>
            <a:srgbClr val="FFE0A3"/>
          </a:solidFill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</a:t>
            </a:r>
            <a:r>
              <a:rPr lang="en-US" sz="2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Bez JavaScript-a, bez fetch/</a:t>
            </a:r>
            <a:r>
              <a:rPr lang="en-US" sz="24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axios</a:t>
            </a:r>
            <a:r>
              <a:rPr 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-a, bez page reload-a</a:t>
            </a:r>
            <a:br>
              <a:rPr lang="en-US" sz="2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alt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</a:t>
            </a:r>
            <a:r>
              <a:rPr lang="en-US" sz="2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Server </a:t>
            </a:r>
            <a:r>
              <a:rPr lang="en-US" sz="24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vraća</a:t>
            </a:r>
            <a:r>
              <a:rPr 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HTML koji HTMX </a:t>
            </a:r>
            <a:r>
              <a:rPr lang="en-US" sz="24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direktno</a:t>
            </a:r>
            <a:r>
              <a:rPr 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ubacuje</a:t>
            </a:r>
            <a:r>
              <a:rPr 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 DOM</a:t>
            </a:r>
            <a:endParaRPr lang="en-US" sz="24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A9D3D-03EA-9C8D-9644-C3F7DAA17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A86B30-265A-C6F2-8ACD-882D0CC8FA29}"/>
              </a:ext>
            </a:extLst>
          </p:cNvPr>
          <p:cNvSpPr/>
          <p:nvPr/>
        </p:nvSpPr>
        <p:spPr>
          <a:xfrm>
            <a:off x="-1777856" y="886826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D5475C2-DE90-17F2-4C6C-BDBA6112D9AA}"/>
              </a:ext>
            </a:extLst>
          </p:cNvPr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10342CA-702A-894F-E229-C7749A2BAA16}"/>
              </a:ext>
            </a:extLst>
          </p:cNvPr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F759F4F-CCE1-F03F-F009-6A6F0C442A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003EA4E-787E-43FB-5044-2FE377A8CF3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C836D34F-154A-FB02-656E-7EC1B9E1785C}"/>
              </a:ext>
            </a:extLst>
          </p:cNvPr>
          <p:cNvSpPr txBox="1"/>
          <p:nvPr/>
        </p:nvSpPr>
        <p:spPr>
          <a:xfrm>
            <a:off x="1600202" y="235201"/>
            <a:ext cx="14280750" cy="1404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6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Parcijalno</a:t>
            </a:r>
            <a:r>
              <a:rPr lang="en-US" sz="6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6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osvežavanje</a:t>
            </a:r>
            <a:r>
              <a:rPr lang="en-US" sz="6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6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sadržaja</a:t>
            </a:r>
            <a:r>
              <a:rPr lang="en-US" sz="6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(HTMX)</a:t>
            </a:r>
            <a:endParaRPr lang="en-US" sz="60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E5D9EBC-9860-F0FC-E61D-F15B05CA7011}"/>
              </a:ext>
            </a:extLst>
          </p:cNvPr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2BEA74B4-4166-353E-4128-2D4ADB4206C6}"/>
              </a:ext>
            </a:extLst>
          </p:cNvPr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8EE368C-8D46-6A86-EB21-1C57E47C40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F4A51E6-02E3-11FA-E653-E9FE945F9CD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B8FABE99-B02C-DAE8-5820-913CF4D28199}"/>
              </a:ext>
            </a:extLst>
          </p:cNvPr>
          <p:cNvSpPr/>
          <p:nvPr/>
        </p:nvSpPr>
        <p:spPr>
          <a:xfrm flipV="1">
            <a:off x="-181319" y="394097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2EC98298-AC81-70F6-6FC8-48F1D0656A95}"/>
              </a:ext>
            </a:extLst>
          </p:cNvPr>
          <p:cNvSpPr/>
          <p:nvPr/>
        </p:nvSpPr>
        <p:spPr>
          <a:xfrm flipV="1">
            <a:off x="3544910" y="9873853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A482607-5577-D165-9E11-8861F1D73353}"/>
              </a:ext>
            </a:extLst>
          </p:cNvPr>
          <p:cNvSpPr txBox="1"/>
          <p:nvPr/>
        </p:nvSpPr>
        <p:spPr>
          <a:xfrm>
            <a:off x="1447800" y="1798328"/>
            <a:ext cx="13030200" cy="7304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Interakcije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bez reload-a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stranice</a:t>
            </a:r>
            <a:endParaRPr lang="en-US" sz="32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Live search (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hx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-get)</a:t>
            </a:r>
            <a:b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Pretraga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taskova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izvršava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dok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korisnik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kuca</a:t>
            </a:r>
            <a:b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Server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vraća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samo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filtriranu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listu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taskova</a:t>
            </a:r>
            <a:endParaRPr lang="en-US" sz="32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Filteri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(All / Active / Done)</a:t>
            </a:r>
            <a:br>
              <a:rPr 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Promena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ne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osvežava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celu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stranicu</a:t>
            </a:r>
            <a:b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Ažurira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samo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deo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listom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taskova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statistikom</a:t>
            </a:r>
            <a:endParaRPr lang="en-US" sz="32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 “done”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statusa</a:t>
            </a:r>
            <a:b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Klik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checkbox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menja</a:t>
            </a:r>
            <a:r>
              <a:rPr lang="sr-Latn-R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status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taska</a:t>
            </a:r>
            <a:b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Server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vraća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ažurirani</a:t>
            </a:r>
            <a:r>
              <a:rPr lang="en-U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sr-Latn-RS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</a:t>
            </a:r>
            <a:r>
              <a:rPr lang="pl-PL" sz="32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 fragment za taj task</a:t>
            </a:r>
            <a:endParaRPr lang="en-US" sz="32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C28F52-38A3-8440-92B1-20BFC865681B}"/>
              </a:ext>
            </a:extLst>
          </p:cNvPr>
          <p:cNvSpPr txBox="1"/>
          <p:nvPr/>
        </p:nvSpPr>
        <p:spPr>
          <a:xfrm>
            <a:off x="10939018" y="9025560"/>
            <a:ext cx="7314823" cy="830997"/>
          </a:xfrm>
          <a:prstGeom prst="rect">
            <a:avLst/>
          </a:prstGeom>
          <a:solidFill>
            <a:srgbClr val="FFE0A3"/>
          </a:solidFill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Nema full page reload-a</a:t>
            </a:r>
            <a:br>
              <a:rPr lang="en-US" sz="24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alt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→ </a:t>
            </a:r>
            <a:r>
              <a:rPr 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Server </a:t>
            </a:r>
            <a:r>
              <a:rPr lang="en-US" sz="24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vraća</a:t>
            </a:r>
            <a:r>
              <a:rPr 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samo</a:t>
            </a:r>
            <a:r>
              <a:rPr lang="en-US" sz="24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HTML fragment koji se </a:t>
            </a:r>
            <a:r>
              <a:rPr lang="en-US" sz="24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menja</a:t>
            </a:r>
            <a:endParaRPr lang="en-US" sz="24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44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419600" y="317970"/>
            <a:ext cx="8997199" cy="2206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80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Zaključak</a:t>
            </a:r>
            <a:endParaRPr lang="en-US" sz="14000" b="1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E66A3A-1B92-CAAE-D443-208BA7963596}"/>
              </a:ext>
            </a:extLst>
          </p:cNvPr>
          <p:cNvSpPr txBox="1"/>
          <p:nvPr/>
        </p:nvSpPr>
        <p:spPr>
          <a:xfrm>
            <a:off x="5410200" y="4533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4B009C99-CF71-9D0A-B406-08FD5DC51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888A00-D257-DD8A-766C-0365336E8C98}"/>
              </a:ext>
            </a:extLst>
          </p:cNvPr>
          <p:cNvSpPr txBox="1"/>
          <p:nvPr/>
        </p:nvSpPr>
        <p:spPr>
          <a:xfrm>
            <a:off x="1945777" y="3060554"/>
            <a:ext cx="15733794" cy="4072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HTMX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omogućava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izradu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interaktivnih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web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aplikacija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bez SPA framework-a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Značajno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smanjuje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kompleksnost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CRUD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administrativnih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aplikacija</a:t>
            </a:r>
            <a:endParaRPr lang="en-US" altLang="en-US" sz="3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Server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ostaje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centralno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mesto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poslovne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logike</a:t>
            </a:r>
            <a:endParaRPr lang="en-US" altLang="en-US" sz="3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HTML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backend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ponovo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imaju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glavnu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ulogu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razvoju</a:t>
            </a:r>
            <a:r>
              <a:rPr lang="en-US" altLang="en-US" sz="3600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600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aplikacije</a:t>
            </a:r>
            <a:endParaRPr lang="en-US" altLang="en-US" sz="36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3200" dirty="0">
              <a:solidFill>
                <a:srgbClr val="31404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DF33FC-72AC-6C3C-C2E9-EB5F9E466E35}"/>
              </a:ext>
            </a:extLst>
          </p:cNvPr>
          <p:cNvSpPr txBox="1"/>
          <p:nvPr/>
        </p:nvSpPr>
        <p:spPr>
          <a:xfrm>
            <a:off x="3962400" y="8036356"/>
            <a:ext cx="14201662" cy="1077218"/>
          </a:xfrm>
          <a:prstGeom prst="rect">
            <a:avLst/>
          </a:prstGeom>
          <a:solidFill>
            <a:srgbClr val="FFE0A3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HTMX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nije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zamena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za SPA framework-e,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već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racionalna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alternativa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tamo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gde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SPA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nije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b="1" dirty="0" err="1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neophodan</a:t>
            </a:r>
            <a:r>
              <a:rPr lang="en-US" sz="32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BE20C-FAB3-77DE-2FF8-6CB821031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6895CB-5F6E-5E95-4C2D-12699E0BFC82}"/>
              </a:ext>
            </a:extLst>
          </p:cNvPr>
          <p:cNvGrpSpPr/>
          <p:nvPr/>
        </p:nvGrpSpPr>
        <p:grpSpPr>
          <a:xfrm>
            <a:off x="-1981200" y="-2019300"/>
            <a:ext cx="19729171" cy="16927642"/>
            <a:chOff x="0" y="0"/>
            <a:chExt cx="1014692" cy="87060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CE4197-3F7E-E5B3-881A-B5DDAC5346DD}"/>
                </a:ext>
              </a:extLst>
            </p:cNvPr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692D839-8881-DB1B-E87D-C44310C2B0B6}"/>
                </a:ext>
              </a:extLst>
            </p:cNvPr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DC1F958-DDFD-BED8-AA1B-DD28C07D0544}"/>
              </a:ext>
            </a:extLst>
          </p:cNvPr>
          <p:cNvSpPr/>
          <p:nvPr/>
        </p:nvSpPr>
        <p:spPr>
          <a:xfrm>
            <a:off x="129271" y="-61908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27C08C7-D380-926A-1CF5-E522A398E5D1}"/>
              </a:ext>
            </a:extLst>
          </p:cNvPr>
          <p:cNvSpPr/>
          <p:nvPr/>
        </p:nvSpPr>
        <p:spPr>
          <a:xfrm>
            <a:off x="-620706" y="195907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BAF4D72F-1AAF-1D8C-198A-AAEBB4C2298F}"/>
              </a:ext>
            </a:extLst>
          </p:cNvPr>
          <p:cNvGrpSpPr/>
          <p:nvPr/>
        </p:nvGrpSpPr>
        <p:grpSpPr>
          <a:xfrm>
            <a:off x="1238070" y="4352968"/>
            <a:ext cx="1216873" cy="121687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2E3BAA6-8A31-E990-2696-35BA793B59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EF41A2C-95E8-E412-FA93-F330A6059EF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802C2F0-162B-EE39-0CA2-3407F046266C}"/>
              </a:ext>
            </a:extLst>
          </p:cNvPr>
          <p:cNvSpPr txBox="1"/>
          <p:nvPr/>
        </p:nvSpPr>
        <p:spPr>
          <a:xfrm>
            <a:off x="3824611" y="4152868"/>
            <a:ext cx="11890553" cy="1323439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sr-Latn-RS" sz="8000" b="1" dirty="0">
                <a:solidFill>
                  <a:srgbClr val="31404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95365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3713</TotalTime>
  <Words>686</Words>
  <Application>Microsoft Office PowerPoint</Application>
  <PresentationFormat>Custom</PresentationFormat>
  <Paragraphs>130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Roboto</vt:lpstr>
      <vt:lpstr>Arial</vt:lpstr>
      <vt:lpstr>Roboto Bold</vt:lpstr>
      <vt:lpstr>Open Sans Bold</vt:lpstr>
      <vt:lpstr>Consolas</vt:lpstr>
      <vt:lpstr>Calibri</vt:lpstr>
      <vt:lpstr>Office Theme</vt:lpstr>
      <vt:lpstr>PowerPoint Presentation</vt:lpstr>
      <vt:lpstr>PowerPoint Presentation</vt:lpstr>
      <vt:lpstr>PowerPoint Presentation</vt:lpstr>
      <vt:lpstr>Uobičajeni pristupi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Navy and White Minimalist Simple Research Project Presentation</dc:title>
  <dc:creator>Petar Arsic</dc:creator>
  <cp:lastModifiedBy>Petar Arsic</cp:lastModifiedBy>
  <cp:revision>6</cp:revision>
  <dcterms:created xsi:type="dcterms:W3CDTF">2006-08-16T00:00:00Z</dcterms:created>
  <dcterms:modified xsi:type="dcterms:W3CDTF">2026-01-19T01:23:02Z</dcterms:modified>
  <dc:identifier>DAG9pYlKzQ8</dc:identifier>
</cp:coreProperties>
</file>